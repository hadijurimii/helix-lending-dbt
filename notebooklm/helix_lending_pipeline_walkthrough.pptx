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c524edb42425f" /><Relationship Type="http://schemas.openxmlformats.org/officeDocument/2006/relationships/extended-properties" Target="/docProps/app.xml" Id="R33048285998d48a9" /><Relationship Type="http://schemas.openxmlformats.org/officeDocument/2006/relationships/officeDocument" Target="/ppt/presentation.xml" Id="R163206d3aa76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448e870044d63"/>
  </p:sldMasterIdLst>
  <p:notesMasterIdLst>
    <p:notesMasterId xmlns:r="http://schemas.openxmlformats.org/officeDocument/2006/relationships" r:id="Raf677b23af8a488c"/>
  </p:notesMasterIdLst>
  <p:sldIdLst>
    <p:sldId xmlns:r="http://schemas.openxmlformats.org/officeDocument/2006/relationships" id="256" r:id="R8468df55018b40f1"/>
    <p:sldId xmlns:r="http://schemas.openxmlformats.org/officeDocument/2006/relationships" id="257" r:id="Rcedeaf25ff3841f7"/>
    <p:sldId xmlns:r="http://schemas.openxmlformats.org/officeDocument/2006/relationships" id="258" r:id="R59ec8adb0eeb4d9f"/>
    <p:sldId xmlns:r="http://schemas.openxmlformats.org/officeDocument/2006/relationships" id="259" r:id="R71d9e2637801465e"/>
    <p:sldId xmlns:r="http://schemas.openxmlformats.org/officeDocument/2006/relationships" id="260" r:id="Re4a067d11e41439a"/>
    <p:sldId xmlns:r="http://schemas.openxmlformats.org/officeDocument/2006/relationships" id="261" r:id="R17cbf9d72d8343b4"/>
    <p:sldId xmlns:r="http://schemas.openxmlformats.org/officeDocument/2006/relationships" id="262" r:id="R6d07b3a77ca34387"/>
    <p:sldId xmlns:r="http://schemas.openxmlformats.org/officeDocument/2006/relationships" id="263" r:id="R68886bd954164d7b"/>
    <p:sldId xmlns:r="http://schemas.openxmlformats.org/officeDocument/2006/relationships" id="264" r:id="R4c91daa0394d45f3"/>
    <p:sldId xmlns:r="http://schemas.openxmlformats.org/officeDocument/2006/relationships" id="265" r:id="Rffeed97c91b342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448e870044d63" /><Relationship Type="http://schemas.openxmlformats.org/officeDocument/2006/relationships/theme" Target="/ppt/theme/theme1.xml" Id="R490f3469932247ed" /><Relationship Type="http://schemas.openxmlformats.org/officeDocument/2006/relationships/notesMaster" Target="/ppt/notesMasters/notesMaster1.xml" Id="Raf677b23af8a488c" /><Relationship Type="http://schemas.openxmlformats.org/officeDocument/2006/relationships/presProps" Target="/ppt/presProps.xml" Id="R4f76091a42544393" /><Relationship Type="http://schemas.openxmlformats.org/officeDocument/2006/relationships/viewProps" Target="/ppt/viewProps.xml" Id="R37a7e7deba574be1" /><Relationship Type="http://schemas.openxmlformats.org/officeDocument/2006/relationships/tableStyles" Target="/ppt/tableStyles.xml" Id="R5edcd0dc20644c59" /><Relationship Type="http://schemas.openxmlformats.org/officeDocument/2006/relationships/slide" Target="/ppt/slides/slide1.xml" Id="R8468df55018b40f1" /><Relationship Type="http://schemas.openxmlformats.org/officeDocument/2006/relationships/slide" Target="/ppt/slides/slide2.xml" Id="Rcedeaf25ff3841f7" /><Relationship Type="http://schemas.openxmlformats.org/officeDocument/2006/relationships/slide" Target="/ppt/slides/slide3.xml" Id="R59ec8adb0eeb4d9f" /><Relationship Type="http://schemas.openxmlformats.org/officeDocument/2006/relationships/slide" Target="/ppt/slides/slide4.xml" Id="R71d9e2637801465e" /><Relationship Type="http://schemas.openxmlformats.org/officeDocument/2006/relationships/slide" Target="/ppt/slides/slide5.xml" Id="Re4a067d11e41439a" /><Relationship Type="http://schemas.openxmlformats.org/officeDocument/2006/relationships/slide" Target="/ppt/slides/slide6.xml" Id="R17cbf9d72d8343b4" /><Relationship Type="http://schemas.openxmlformats.org/officeDocument/2006/relationships/slide" Target="/ppt/slides/slide7.xml" Id="R6d07b3a77ca34387" /><Relationship Type="http://schemas.openxmlformats.org/officeDocument/2006/relationships/slide" Target="/ppt/slides/slide8.xml" Id="R68886bd954164d7b" /><Relationship Type="http://schemas.openxmlformats.org/officeDocument/2006/relationships/slide" Target="/ppt/slides/slide9.xml" Id="R4c91daa0394d45f3" /><Relationship Type="http://schemas.openxmlformats.org/officeDocument/2006/relationships/slide" Target="/ppt/slides/slide10.xml" Id="Rffeed97c91b3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3ad118464448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6c42fa45d4a92" /><Relationship Type="http://schemas.openxmlformats.org/officeDocument/2006/relationships/notesMaster" Target="/ppt/notesMasters/notesMaster1.xml" Id="Rfeedb9be101941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bc3bd8acd45f5" /><Relationship Type="http://schemas.openxmlformats.org/officeDocument/2006/relationships/notesMaster" Target="/ppt/notesMasters/notesMaster1.xml" Id="Rffe5d0826df2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c23b72b8c42fc" /><Relationship Type="http://schemas.openxmlformats.org/officeDocument/2006/relationships/notesMaster" Target="/ppt/notesMasters/notesMaster1.xml" Id="R62efdc6a8f36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8ce111acf049e7" /><Relationship Type="http://schemas.openxmlformats.org/officeDocument/2006/relationships/notesMaster" Target="/ppt/notesMasters/notesMaster1.xml" Id="Rbf06e300039747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122ef3b8554fda" /><Relationship Type="http://schemas.openxmlformats.org/officeDocument/2006/relationships/notesMaster" Target="/ppt/notesMasters/notesMaster1.xml" Id="R09128e38a992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b0e383ebc04221" /><Relationship Type="http://schemas.openxmlformats.org/officeDocument/2006/relationships/notesMaster" Target="/ppt/notesMasters/notesMaster1.xml" Id="Rccf8f0a365ae46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4c1cc597704249" /><Relationship Type="http://schemas.openxmlformats.org/officeDocument/2006/relationships/notesMaster" Target="/ppt/notesMasters/notesMaster1.xml" Id="Rfce96048129844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99d540e2ea4277" /><Relationship Type="http://schemas.openxmlformats.org/officeDocument/2006/relationships/notesMaster" Target="/ppt/notesMasters/notesMaster1.xml" Id="R84f8faa214f344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f11cadc42b4f62" /><Relationship Type="http://schemas.openxmlformats.org/officeDocument/2006/relationships/notesMaster" Target="/ppt/notesMasters/notesMaster1.xml" Id="R5854afb428434b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53c80419df4165" /><Relationship Type="http://schemas.openxmlformats.org/officeDocument/2006/relationships/notesMaster" Target="/ppt/notesMasters/notesMaster1.xml" Id="R7c3208b136204a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33a792cbe443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e2b07237db4581" /><Relationship Type="http://schemas.openxmlformats.org/officeDocument/2006/relationships/slideLayout" Target="/ppt/slideLayouts/slideLayout2.xml" Id="R444b7aec2132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4b7aec2132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4ca5237c34049" /><Relationship Type="http://schemas.openxmlformats.org/officeDocument/2006/relationships/notesSlide" Target="/ppt/notesSlides/notesSlide1.xml" Id="Ra5c700d04692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6335d82dfd494c" /><Relationship Type="http://schemas.openxmlformats.org/officeDocument/2006/relationships/notesSlide" Target="/ppt/notesSlides/notesSlide2.xml" Id="Ra8f2765ea5694a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83d4815634da5" /><Relationship Type="http://schemas.openxmlformats.org/officeDocument/2006/relationships/notesSlide" Target="/ppt/notesSlides/notesSlide3.xml" Id="R8b78bceaea1f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9564578a34648" /><Relationship Type="http://schemas.openxmlformats.org/officeDocument/2006/relationships/notesSlide" Target="/ppt/notesSlides/notesSlide4.xml" Id="R9e1636b3865047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592e1956b34e5d" /><Relationship Type="http://schemas.openxmlformats.org/officeDocument/2006/relationships/notesSlide" Target="/ppt/notesSlides/notesSlide5.xml" Id="Rbc5d68c488c24d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f57b647564c2c" /><Relationship Type="http://schemas.openxmlformats.org/officeDocument/2006/relationships/notesSlide" Target="/ppt/notesSlides/notesSlide6.xml" Id="R70791ce5fd4a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6a188771e4c88" /><Relationship Type="http://schemas.openxmlformats.org/officeDocument/2006/relationships/notesSlide" Target="/ppt/notesSlides/notesSlide7.xml" Id="R2dc18dd50dff41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5718099cfb480e" /><Relationship Type="http://schemas.openxmlformats.org/officeDocument/2006/relationships/notesSlide" Target="/ppt/notesSlides/notesSlide8.xml" Id="R55222821100c41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88b229fd054a84" /><Relationship Type="http://schemas.openxmlformats.org/officeDocument/2006/relationships/notesSlide" Target="/ppt/notesSlides/notesSlide9.xml" Id="R5f31131448014e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53ed9eac984197" /><Relationship Type="http://schemas.openxmlformats.org/officeDocument/2006/relationships/notesSlide" Target="/ppt/notesSlides/notesSlide10.xml" Id="R07bc0a74f56444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8EDE1-B4BF-46C7-ABA7-035FB18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E2669-1089-43FE-B73C-16DA356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A"/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4AB37-4A5F-4A3C-B7F4-D27DCFD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DEE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DEE4"/>
                </a:solidFill>
                <a:latin typeface="Aptos"/>
                <a:ea typeface="Aptos"/>
                <a:cs typeface="Aptos"/>
              </a:rPr>
              <a:t>INTERVIEW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188A9-738B-4C0A-9017-695721A4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09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A messy-data pipeline,</a:t>
            </a:r>
          </a:p>
          <a:p xmlns:a="http://schemas.openxmlformats.org/drawingml/2006/main">
            <a:pPr algn="l">
              <a:defRPr sz="39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not a big-data costume.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353AC-5238-4415-BF25-C72BCEE6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Helix Lending assessment | Python + DuckDB | raw -&gt; core -&gt; marts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CD2B8-51CF-46FD-B27E-6F1D3AE5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E843B-289E-46D3-AE50-0107DA3B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B84A"/>
                </a:solidFill>
                <a:latin typeface="Aptos"/>
                <a:ea typeface="Aptos"/>
                <a:cs typeface="Aptos"/>
              </a:rPr>
              <a:t>84,816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719F8-EE59-4B68-AE6B-FFB510F7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raw input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7F9E2-4495-489A-AB34-251B3AE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719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784B1-14A0-4DB7-A437-FC77B2C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EE2D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EE2D8"/>
                </a:solidFill>
                <a:latin typeface="Aptos"/>
                <a:ea typeface="Aptos"/>
                <a:cs typeface="Aptos"/>
              </a:rPr>
              <a:t>84,756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E5923-73DF-4FF0-A766-3EBB650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9582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clean modeled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B6BF2-D4D4-4711-93D6-14059B43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719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25DE9-E31C-4767-80C2-FC8D0ABE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05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16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6C16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01F84-A251-4F0F-B03A-E8BC58FC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9582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quality dimensions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9F40B-E1E8-4B26-9936-12FE6D5B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43000"/>
            <a:ext cx="161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A2837-C566-4936-8F41-77449FA6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43050"/>
            <a:ext cx="120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Raw keeps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Core cleans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Marts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3E367-814B-4563-B588-FDC600C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4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A08BA-4638-40CB-9FCF-E2B665F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8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2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7D9BE-E14C-471C-AEA9-B3B2310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DE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DEE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05621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8852F-6101-4634-A7C5-2B5C2912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27E2618B-7EC6-4ABC-B8B5-7E9FCBFB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79BD121-EAE6-4584-BD91-66F3F8D5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SOURCE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84BD0-9B80-4815-9B04-61A58B9F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The files are small; the trust problems are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5951A-8740-4A67-9398-D23B53F6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F68F2-E3C0-4584-A787-12E18201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C8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5C84"/>
                </a:solidFill>
                <a:latin typeface="Aptos"/>
                <a:ea typeface="Aptos"/>
                <a:cs typeface="Aptos"/>
              </a:rPr>
              <a:t>10,030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6DB11-521E-4C39-86B0-4019161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loan source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731AF-C282-4673-945F-63E2D02E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2410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CB574-BEA3-4A04-971D-65BA6935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609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C8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5C84"/>
                </a:solidFill>
                <a:latin typeface="Aptos"/>
                <a:ea typeface="Aptos"/>
                <a:cs typeface="Aptos"/>
              </a:rPr>
              <a:t>74,786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D05ED-E9CD-4D9C-B237-1A51019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47975"/>
            <a:ext cx="1609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payment source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A7D00-2BAB-4857-883C-0E331B33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241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873DD-880A-45B1-A5C1-9647EB58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574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3D40"/>
                </a:solidFill>
                <a:latin typeface="Aptos"/>
                <a:ea typeface="Aptos"/>
                <a:cs typeface="Aptos"/>
              </a:rPr>
              <a:t>30 + 30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24120-1088-4D5A-B0E4-3A13768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4797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duplicate loan and payment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FC28E-A5AA-4CDC-838F-2B72DCB7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241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10C27-A842-464F-8D02-F5CE3CA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3D4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E4078-13F5-45AC-ADF0-FE0D31B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4797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payments without a loan 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082DF-0B27-422A-AC18-4123028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31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E8220-F4A3-4A8E-B5B2-0C7A8450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Mixed date formats mean date parsing must be explicit.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A8F89-0253-4CDF-9949-3A6749D0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31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57DA8-8814-444F-BA31-831FA4D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Payment timestamps mix Z, offsets, and naive strings.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A4667-D5A4-4D9B-9689-EE3A5EC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31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FDAD0-045C-4902-ABC9-EB6D771C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Borrower info is embedded JSON, and some of it is malformed.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EBB07-6441-4DEB-987A-4FA20E3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31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F324E-061A-4F9E-912B-FCD3D4E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Metadata is optional, so completeness has to be measured.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DA169-3005-4789-AF16-6DA1D4C4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5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BA0E6-4552-4230-9DA2-46C0FF9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6B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B31"/>
                </a:solidFill>
                <a:latin typeface="Aptos"/>
                <a:ea typeface="Aptos"/>
                <a:cs typeface="Aptos"/>
              </a:rPr>
              <a:t>Main 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251FD-BF9B-4F2F-94C1-D7262EEC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243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The job is making defects visible, not making them disappear.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01C34-77E9-4F61-8000-C1E8610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F4515-EBFC-4576-B22D-B07A9AD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9ABF9-1351-423F-92AC-721D334A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72817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3EFCB-1DF6-4E5B-9489-4EE3E69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B2FD04D-F0B1-4175-AB2D-B75B822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23C5505-755C-4BF7-9F01-2D6271BD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83563-9E31-45E1-BDA2-C5A9AAFB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The model separates evidence, cleanup, and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F8035-A5CA-4150-A124-33487A3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190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5D875-E567-457A-ADAF-A00A7BE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53A6E-9747-4E3F-9E90-FA74227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5A85-6627-4CE6-A187-AD44E559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source-faithful landing</a:t>
            </a:r>
          </a:p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row number + source file</a:t>
            </a:r>
          </a:p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ingestion timestamp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B5864-E424-4FF1-B422-B2EF429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190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F85ED-8ECA-46C2-A994-7CCA3520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F6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6F68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CCF68-064D-409F-A1A7-AE8AD823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7D978-3B50-48C3-A1D3-CF2DA22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typed fields</a:t>
            </a:r>
          </a:p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normalized categories</a:t>
            </a:r>
          </a:p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parsed JSON and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198BA-F460-4BF0-BDC8-074CC57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2190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FAC05-3814-458D-AA0E-ED67DCF3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6B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46B31"/>
                </a:solidFill>
                <a:latin typeface="Aptos"/>
                <a:ea typeface="Aptos"/>
                <a:cs typeface="Aptos"/>
              </a:rPr>
              <a:t>MARTS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78A2C-537D-4148-B3D9-2168F68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31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0A8AF-4EFD-4B40-A24A-D183462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dim_loans</a:t>
            </a:r>
          </a:p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fact_payments</a:t>
            </a:r>
          </a:p>
          <a:p xmlns:a="http://schemas.openxmlformats.org/drawingml/2006/main">
            <a:pPr algn="l">
              <a:defRPr sz="127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loan_payment_summary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33783-654D-422A-8001-04D6566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814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9A22C-4CF8-4184-83C7-5A193EA8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18F20-5F6E-447F-8D64-5B4DCC9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3DB91-F3B1-473E-9734-34DF084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60C64-434D-48BC-8856-76064C81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638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F14A2-F6EF-4465-AF6A-D0F3441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146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6F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6F68"/>
                </a:solidFill>
                <a:latin typeface="Aptos"/>
                <a:ea typeface="Aptos"/>
                <a:cs typeface="Aptos"/>
              </a:rPr>
              <a:t>METRICS +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28038-651B-44A5-9427-0147129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814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run_metrics.json</a:t>
            </a:r>
          </a:p>
          <a:p xmlns:a="http://schemas.openxmlformats.org/drawingml/2006/main">
            <a:pPr algn="ctr">
              <a:defRPr sz="120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quality_report.json</a:t>
            </a:r>
          </a:p>
          <a:p xmlns:a="http://schemas.openxmlformats.org/drawingml/2006/main">
            <a:pPr algn="ctr">
              <a:defRPr sz="120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JSON 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22404-C5D9-45DF-BA57-54F9646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97C57-A907-4991-95D6-10BBE175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794F1-F239-44CF-B5D3-AC6B9F8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9444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5941C-67E1-46F5-A0F5-A337EAA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4C7E0B23-A51A-47ED-806E-EE889174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5BCFFA49-7D15-4CC5-8B96-C259103C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37D4C-DD66-4DC0-9D25-62EAAF3B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Ingest is intentionally boring, because raw data should not freelance.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1030B-3BC6-4A3E-9012-E5DAA924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74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0A97D-6E4D-4FB9-BB5E-C8649378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C8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5C84"/>
                </a:solidFill>
                <a:latin typeface="Aptos"/>
                <a:ea typeface="Aptos"/>
                <a:cs typeface="Aptos"/>
              </a:rPr>
              <a:t>loans.csv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1EF67-55B6-4E61-8F61-5EF78EB2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Read as strings first. Preserve source row and file metadata. Cast later, when errors can be handled deliberately.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67177-F7F7-49BF-90F4-ED0A789C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401B-52D3-4429-82E0-A1CD43D0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C8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5C84"/>
                </a:solidFill>
                <a:latin typeface="Aptos"/>
                <a:ea typeface="Aptos"/>
                <a:cs typeface="Aptos"/>
              </a:rPr>
              <a:t>payments.jsonl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5E67A-F51A-43C2-A5E2-6451861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Use an explicit JSON schema. Timestamp parsing stays out of ingest because the source mixes formats.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B7A42-03AE-4238-8A6D-67227468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362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D7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4A242-7137-4121-B505-5F64238E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6B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46B31"/>
                </a:solidFill>
                <a:latin typeface="Aptos"/>
                <a:ea typeface="Aptos"/>
                <a:cs typeface="Aptos"/>
              </a:rPr>
              <a:t>Runtime lesson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EF239-655B-4D54-BF11-D7DB2409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Auto inference failed on mixed timestamps. Explicit schema made ingest deterministic.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A923E-6656-403A-B5BB-E2086B6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FF7A8-351D-4C53-B8BC-8C332D7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B28C6-93F2-4201-AE52-8893808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45575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9D91D-AC9C-4693-B0B6-1ED4B767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3EA566E-1A67-402B-A049-42BB5A05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78F4058-831A-4FFB-B5C5-E987686A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C85A0-7175-4D1B-82C8-E1E33471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Load turns source chaos into typed, explainable tables.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EA8E8-8853-46F2-8626-CD4C01DF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BB2FE-F316-447A-809F-9F3B17BE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Source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3846A-C9EB-43A6-8298-4F3581B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Load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E05F4-C728-4233-97E1-66E71DC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0994F-F2C0-4076-B6B7-325390F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B3E3A-C4EC-4D68-9DB7-BFEC43C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Casing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055A6-E057-4C43-8C84-38378BE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PERSONAL / Personal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63143-AC4C-4473-88FC-DD02F55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lower + trim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2B97D-D1D1-45B6-9D04-458538A6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personal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B4723-3EC2-4774-A5DA-B2530974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4443E-7049-4035-8DA1-ACFEEAC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Money strings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8B903-E53A-434F-A9D6-C28D125E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$155,069.87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B2ACF-949B-44B2-8B46-CCDC09B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strip $ and commas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B2E62-25A1-4268-A9C2-60F6F78C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155069.87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9FC5E-F2F2-4619-80F0-B35C4C2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DFD76-B023-48BD-BC04-6A18EA3A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Date formats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D13E2-1137-40B6-A9DC-CD9C2DD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11-Dec-2020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661E8-D97D-4474-92A7-F568A16F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try known formats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6DED4-B04D-436D-ADD8-5337D34B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2020-12-11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87D29-6021-46B9-93C6-51D6E85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6B5B5-A9D4-4966-9E79-D395EAFC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Bad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F96A5-526D-4CCB-915E-9045CB13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truncated borrower_info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D1D06-8911-41A3-AFAB-235EBFA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67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json_valid 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BFDCB-0EA5-47B0-B788-2DFB0A5A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raw kept, parsed null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C348F6-44A1-4DB5-A2DE-0D67363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AB46A3-11AA-4915-9BB2-655C06C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Duplicates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84680-16AE-4308-A19E-E444D761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38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same loan_id/payment_id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26955C-5734-4D5B-A146-60DCD3C8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38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first source row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C4586-04BE-4689-9133-D7BEB9E9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387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single clean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8F5F0D-2EFD-401F-9BA7-4CE1E9C0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A9C0BD-F587-45AF-AAA8-3E355C9B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362A5-3616-4233-8783-661DDB6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670BE2-B84C-4DD3-9D6D-B0930997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43180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26CB4-A902-4867-BFD8-E60539E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E1965BD-7FA1-4786-B4CF-D9CE158E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BC75B6E8-DF40-4787-9CF5-47506111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MARTS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1DAFE-F9A5-4115-90A1-9A4889C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The marts answer questions without hiding broken joins.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7B65C-4217-4E5D-95DF-54A7B809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8190-C3BC-4BE4-9D02-E07892BD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C8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5C84"/>
                </a:solidFill>
                <a:latin typeface="Aptos"/>
                <a:ea typeface="Aptos"/>
                <a:cs typeface="Aptos"/>
              </a:rPr>
              <a:t>dim_loans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C8FDB-2650-4BD0-AD1A-AF760247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One row per loan: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product, status, terms,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borrower attributes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BFBAF-8DA0-4967-AB60-404E41F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336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E0494-E6CA-4BB9-9243-937A115C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00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6F6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E6F68"/>
                </a:solidFill>
                <a:latin typeface="Aptos"/>
                <a:ea typeface="Aptos"/>
                <a:cs typeface="Aptos"/>
              </a:rPr>
              <a:t>fact_payments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A801A-8FE8-483C-8312-CEB8993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52800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One row per payment: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amount, timestamp,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method, metadata,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loan_exists flag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73709-83E2-4036-AFC5-413BC78C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7D7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5EEFE-F0A6-4E66-85ED-D78A42C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B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6B31"/>
                </a:solidFill>
                <a:latin typeface="Aptos"/>
                <a:ea typeface="Aptos"/>
                <a:cs typeface="Aptos"/>
              </a:rPr>
              <a:t>loan_payment_summary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540D7-C78C-4359-83DF-92F7BD8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Aggregated by loan: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count, total paid,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first and last payment,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invalid amount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20FB6-A011-49A0-91D7-F783909A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3A213-A66C-426B-9200-854EA080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8B010-C70C-4928-A1AA-68D8D3F0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B9F84-CBA0-4387-A79F-363A41D7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0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3E6BD-F408-4935-B1CE-1AB4470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625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Key choice: orphan payments are flagged, not erased.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780D1-286C-4F80-8A9C-3ACFCE0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27128-40B0-4872-8A9C-C0AFBBA0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10B78-2CE1-4107-A80B-B158DED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375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F36D8-95BE-4731-9842-16F4820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A32A6969-7AA8-4F88-A49C-61F29BC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A"/>
          </a:solidFill>
          <a:ln xmlns:a="http://schemas.openxmlformats.org/drawingml/2006/main" w="0"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5D87B0A1-9827-46D2-B263-D9E9416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E7DA"/>
                </a:solidFill>
                <a:latin typeface="Aptos"/>
                <a:ea typeface="Aptos"/>
                <a:cs typeface="Aptos"/>
              </a:rPr>
              <a:t>QUALITY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CA92-A854-4F7C-A279-56CF424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The quality report gives reviewers numbers they can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A9723-D590-41AB-A689-D95D2D6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9A1D4-F189-4121-8010-7BF31ED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B8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B8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F6780-FC39-4C6F-86CA-A758B895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duplicate loans removed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6FE4B-2F1C-42CD-80CF-FE1D5A21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AE2AB-EF1C-42C3-96D1-DA9DAF30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EE2D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EE2D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E6CFE-18A2-4072-BFCF-4DC2E28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duplicate payments removed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72483-0E03-4510-8F35-B4904390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7B928-7BA0-4D27-95CE-C2FB784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A97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A979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722AA-5F6F-4EA1-A5EB-AD8C45A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malformed borrower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6ABAA-B396-447A-B277-2CDF8297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90F16-AE73-4A5B-9E17-4F29009B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A97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A979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60BD8-CF7B-4681-A1D2-90222C0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payments missing 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CB4ED-EAD0-4285-BF9B-BBF4BBF8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481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68577-9E83-44A8-9AFC-5D62E8A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7B7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A7B7B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1C243-1AB9-4AA4-9774-97425AE0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orphan payments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A68B0-02D6-4266-A155-33FD5880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481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04E45-9491-4D41-B8BF-ADE59476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D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DEE4"/>
                </a:solidFill>
                <a:latin typeface="Aptos"/>
                <a:ea typeface="Aptos"/>
                <a:cs typeface="Aptos"/>
              </a:rPr>
              <a:t>7,405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C5AA1-561C-41E8-914F-B73ACD55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8D2"/>
                </a:solidFill>
                <a:latin typeface="Aptos"/>
                <a:ea typeface="Aptos"/>
                <a:cs typeface="Aptos"/>
              </a:rPr>
              <a:t>payments missing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C4D44-0DA6-428C-9E72-4F496C1D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9750"/>
            <a:ext cx="847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The point is not that the data became perfect. The point is that defects became measurable.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E7ABA-3A97-4386-987D-5874C486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4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C4F1C-6270-465B-8B7D-D406BCE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8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2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91B07-1592-4F20-9007-09CBD40B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DE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DEE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2569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88C15-6B42-48B9-9416-747C8AC9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29508531-EE75-45BB-ABF3-FA74FB2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1F72E7A-F5F3-41F4-ACCD-6F2DFBE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TESTS + OBSERVABILITY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8F312-BDD6-4CDD-B17F-342BE165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The tests caught a real design bug, which is exactly their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46665-EFB8-4340-942A-4171504F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07EA1-3139-482B-8498-087D79FC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C8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15C84"/>
                </a:solidFill>
                <a:latin typeface="Aptos"/>
                <a:ea typeface="Aptos"/>
                <a:cs typeface="Aptos"/>
              </a:rPr>
              <a:t>Unit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3CCF5-E3D0-4EDB-806F-D4F2E5F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Parser coverage for loan dates and payment timestamps, including invalid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B8993-3665-49B4-B9FF-2D834D86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DA3AE-6A81-44AC-B553-80F57573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6F6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E6F68"/>
                </a:solidFill>
                <a:latin typeface="Aptos"/>
                <a:ea typeface="Aptos"/>
                <a:cs typeface="Aptos"/>
              </a:rPr>
              <a:t>E2E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E5D1A-1226-471E-B8F9-8E562E5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Covers dedupe, dollar parsing, JSON flattening, and orphan payment flagging.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7587E-F661-4E0F-92CC-72F1FFCE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647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D7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33857-A08E-4D98-BB54-DE475DAC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46B3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C46B31"/>
                </a:solidFill>
                <a:latin typeface="Aptos"/>
                <a:ea typeface="Aptos"/>
                <a:cs typeface="Aptos"/>
              </a:rPr>
              <a:t>Bug caught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F68C-2542-4CA0-B5CF-3D84FF7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JSON auto inference broke on mixed timestamps. The fix: explicit ingest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7237F-1E16-40E0-9142-98F7D9A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E24A1-32C6-4295-94B7-E115F54F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5EF9-7479-4B96-A817-FC8DD40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6744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49921-7B08-439D-A564-51DAA6BF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24DFBF4D-83BC-4902-9670-126608C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73F8D8C-5FFF-41FB-AB24-3F5F13B7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TRADEOFFS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F28DF-7627-49EE-8730-79DF5F2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The small stack is a choice, not a shortcut.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65078-2A52-4FB8-ABC8-19A1131D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36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C7C5F-EB1A-425F-89CB-2711874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6F6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6F68"/>
                </a:solidFill>
                <a:latin typeface="Aptos"/>
                <a:ea typeface="Aptos"/>
                <a:cs typeface="Aptos"/>
              </a:rPr>
              <a:t>Chose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7024E-D8F9-4FFF-8E18-D283340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Python entrypoint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DuckDB SQL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Parquet outputs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Direct SQL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AB747-4106-4E8A-86B8-221F417A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36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2EC3D-70F2-464B-BA0F-056C357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81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6973"/>
                </a:solidFill>
                <a:latin typeface="Aptos"/>
                <a:ea typeface="Aptos"/>
                <a:cs typeface="Aptos"/>
              </a:rPr>
              <a:t>Deferred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7056E-AA08-462B-AE35-1E8098D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147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Airflow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Spark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Heavy DQ framework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Warehouse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59A37-E076-44FE-99F8-1470D88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236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D7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8DECD-F0D2-475C-B505-C878354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B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6B31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C4BC4-DFE1-4F56-A243-2520E4D9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Quarantine tables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Incremental loads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dbt model split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0"/>
                </a:solidFill>
                <a:latin typeface="Aptos"/>
                <a:ea typeface="Aptos"/>
                <a:cs typeface="Aptos"/>
              </a:rPr>
              <a:t>Delinquency mart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C5A25-81F6-47B0-AC02-862E6DF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673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1820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820"/>
                </a:solidFill>
                <a:latin typeface="Georgia"/>
                <a:ea typeface="Georgia"/>
                <a:cs typeface="Georgia"/>
              </a:rPr>
              <a:t>Strong answer: this is a messy-data assessment, not a distributed-systems audition.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EC5A5-2E33-4D1E-BEB0-C6E279D6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DC999-0005-48E3-BA28-5849EC6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3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D2355-CE80-45FF-8D01-D260F80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182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80669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09C01-5394-4B86-B0A7-A1DAF493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ADF197D4-E5BB-443C-9462-0F299E1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A"/>
          </a:solidFill>
          <a:ln xmlns:a="http://schemas.openxmlformats.org/drawingml/2006/main" w="0"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D2BECE5-2147-4543-916E-5363E5D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E7DA"/>
                </a:solidFill>
                <a:latin typeface="Aptos"/>
                <a:ea typeface="Aptos"/>
                <a:cs typeface="Aptos"/>
              </a:rPr>
              <a:t>CLOSING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E3101-9AC8-4BAD-BB20-047DBEC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90650"/>
            <a:ext cx="819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Raw preserves evidence.</a:t>
            </a:r>
          </a:p>
          <a:p xmlns:a="http://schemas.openxmlformats.org/drawingml/2006/main">
            <a:pPr algn="l">
              <a:defRPr sz="36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Core standardizes truth.</a:t>
            </a:r>
          </a:p>
          <a:p xmlns:a="http://schemas.openxmlformats.org/drawingml/2006/main">
            <a:pPr algn="l">
              <a:defRPr sz="3600" b="1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Marts answer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679D6-A3C0-4BD1-9AB7-AA9E3DA7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A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7AC4B-EF60-4A30-BF59-5202661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DEE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DEE4"/>
                </a:solidFill>
                <a:latin typeface="Aptos"/>
                <a:ea typeface="Aptos"/>
                <a:cs typeface="Aptos"/>
              </a:rPr>
              <a:t>That is the story to present: small stack, clear layers, explicit quality signals, and no quiet deletion of inconvenient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306CA-D119-4021-BB53-CB4D98B6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28750"/>
            <a:ext cx="1714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6B874-FC68-40A5-AF5F-B55207E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C16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C16D"/>
                </a:solidFill>
                <a:latin typeface="Aptos"/>
                <a:ea typeface="Aptos"/>
                <a:cs typeface="Aptos"/>
              </a:rPr>
              <a:t>Best live 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9F641-2212-40BB-9971-5C7CEA56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1371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7EA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7EA"/>
                </a:solidFill>
                <a:latin typeface="Georgia"/>
                <a:ea typeface="Georgia"/>
                <a:cs typeface="Georgia"/>
              </a:rPr>
              <a:t>Add quarantine tables or move core and mart SQL into dbt. The current boundaries already support both.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6FE5B-2E8B-4803-BF01-A26A004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4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EAB4E-49A2-4ACF-8057-B703D652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8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2"/>
                </a:solidFill>
                <a:latin typeface="Aptos"/>
                <a:ea typeface="Aptos"/>
                <a:cs typeface="Aptos"/>
              </a:rPr>
              <a:t>Helix Lending DE assessment | interview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0658F-EB38-419A-BE1D-CFD7794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DE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DEE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7010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2026-06-14T15:11:16.1170000Z</dcterms:created>
  <dcterms:modified xsi:type="dcterms:W3CDTF">2026-06-14T15:11:16.1180000Z</dcterms:modified>
</coreProperties>
</file>